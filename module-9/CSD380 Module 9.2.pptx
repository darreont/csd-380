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Lst>
  <p:notesMasterIdLst>
    <p:notesMasterId r:id="rId16"/>
  </p:notesMasterIdLst>
  <p:handoutMasterIdLst>
    <p:handoutMasterId r:id="rId17"/>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rriers and Challenges to Implementing a Just Culture" id="{3AAB1B51-DD1A-4F84-B6DA-F2C0F94D7631}">
          <p14:sldIdLst>
            <p14:sldId id="2561"/>
          </p14:sldIdLst>
        </p14:section>
        <p14:section name="Challenges to Implementing a Just Culture" id="{85CA14B4-F60F-436E-A536-6C7875EE888A}">
          <p14:sldIdLst>
            <p14:sldId id="2562"/>
            <p14:sldId id="2563"/>
            <p14:sldId id="2564"/>
            <p14:sldId id="2565"/>
            <p14:sldId id="2566"/>
            <p14:sldId id="2567"/>
            <p14:sldId id="2568"/>
            <p14:sldId id="2569"/>
            <p14:sldId id="2570"/>
            <p14:sldId id="25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680E72-5227-0071-FEE0-78DC5428DEC5}" v="42" dt="2026-02-11T02:19:45.984"/>
    <p1510:client id="{BA0DEA2E-AE92-412C-B0FE-23288F7E744B}" v="13" dt="2026-02-11T02:08:55.300"/>
  </p1510:revLst>
</p1510:revInfo>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42" autoAdjust="0"/>
    <p:restoredTop sz="94810"/>
  </p:normalViewPr>
  <p:slideViewPr>
    <p:cSldViewPr snapToGrid="0">
      <p:cViewPr>
        <p:scale>
          <a:sx n="100" d="100"/>
          <a:sy n="100" d="100"/>
        </p:scale>
        <p:origin x="-845" y="-605"/>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2/10/2026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342994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Concept of a Just Culture, Blame Orientation as a Cultural Barrier, Outcome Bias and Its Impact on Fair Decision‑Making, Lack of Transparency in Incident Assessment, Inconsistent Assessment Processes Across an Organization, Emotional and Communication Challenges in Just Culture Adoption, Additional Organizational Challenges Affecting Just Culture, Graphic Overview of Key Barriers, Conclusion and Implications for Organizational Practice</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78435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Just Culture is a framework that emphasizes learning and accountability rather than blame when adverse events occur. It encourages individuals to report mistakes by ensuring they will be treated fairly, which is essential in environments such as healthcare, aviation, and high‑reliability industries. Implementing a Just Culture requires organizational commitment, transparent processes, and consistent leadership engagement. This approach distinguishes between human error, at‑risk behavior, and reckless behavior, ensuring that responses to incidents are proportionate, fair, and aimed at systemic improvement. One primary challenge lies in building shared understanding across the organization, as many staff may hold preconceived ideas about blame and punishment due to prior workplace experiences. For example, staff in healthcare organizations often express insecurities about being subjects of investigations, reflecting persistent concerns about personal repercussions. Another challenge relates to inconsistent familiarity with the concept of Just Culture; some employees may never have been introduced to the principles, limiting organization‑wide adoption. Clear communication about the philosophy, purpose, and expectations of a Just Culture is crucial for alignment. Furthermore, implementing a Just Culture requires ongoing education to ensure staff understand how incidents will be assessed and how decisions will be made about corrective actions. Leadership must model the behaviors expected within a Just Culture—openness, fairness, and accountability—while avoiding punitive tendencies. Leaders must also balance transparency with privacy, especially in sensitive sectors like healthcare. Additionally, organizations must dedicate time and resources to fostering shared understanding through training, discussions, and structured incident review processes. Ultimately, the success of a Just Culture lies in consistent application, visible leadership support, and continuous reinforcement of learning rather than blame, enabling organizations to improve safety and performance outcomes while maintaining staff trust and engagement.</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305092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Blame remains one of the most significant barriers to implementing a Just Culture. Humans naturally assign fault to individuals, often influenced by attribution bias—the belief that actions stem from personal flaws rather than contextual factors. This tendency leads to punitive reactions when incidents occur, even in cases where human error is unavoidable. In healthcare, studies show that staff fear negative consequences when reporting errors, leading to underreporting and missed opportunities for learning. When a culture emphasizes blame, employees conceal mistakes to avoid punishment, undermining transparency and organizational improvement. A Just Culture seeks to counteract these tendencies by reframing errors as learning opportunities rather than moral failings. Overcoming blame requires deliberate effort: employing systematic approaches to incident analysis, reducing hindsight and attribution bias, and emphasizing system factors rather than individual fault. Leaders must consistently model non‑punitive responses, resisting pressure to assign fault based solely on outcomes. Staff must trust that reporting incidents will not result in unfair consequences, which requires organizations to communicate clearer expectations around how events are assessed. Blame‑based cultures also hinder psychological safety, which is essential for high‑reliability teams. Without psychological safety, employees hesitate to speak up, slowing improvement cycles and perpetuating systemic weaknesses. Effective strategies include establishing transparent investigative processes, training investigators on human factors principles, and maintaining consistency in responses to incidents. Additionally, organizations must recognize that transforming a blame‑oriented culture takes time. Employees often carry memories of previous punitive actions, so leadership must demonstrate long‑term commitment to fairness and learning. Through consistent messaging, transparent processes, and structured feedback loops, organizations can gradually shift away from blame and toward a culture that encourages open reporting, continuous learning, and shared accountability.</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193476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Outcome bias represents another major barrier to implementing a Just Culture. This cognitive bias causes individuals to judge the quality of decisions based on the severity of outcomes rather than the reasonableness of the actions taken at the time. In environments such as healthcare, even when clinicians follow accepted procedures, severe patient outcomes may trigger harsher scrutiny and punitive responses. This dynamic discourages staff from reporting incidents and fosters mistrust in the fairness of the system. A Just Culture requires evaluating behavior independently of outcomes, conducting assessments based on what a similarly trained professional would have done under the same circumstances. Overcoming outcome bias involves training decision‑makers to separate outcome severity from behavioral assessment. Using structured methods, such as substitution tests—asking what a competent peer would have done—helps ensure assessments are consistent and not influenced by hindsight or emotional reactions to negative outcomes. Additionally, organizations must communicate clearly that disciplinary actions are based on behavioral choices, not consequences alone. Cultural change efforts should emphasize fairness, reduce emotional reactions to severe outcomes, and encourage fact‑based evaluations. Transparent investigative frameworks help reduce outcome bias by guiding assessors through objective criteria. Leaders must also acknowledge that human performance is variable and context‑dependent, reinforcing that not all adverse outcomes imply wrongdoing. In high‑pressure fields, external influences—such as media scrutiny or regulatory bodies—can heighten outcome‑based judgment. Therefore, leadership must shield internal assessment processes from external pressures to maintain fairness. By consistently applying fair, behavior‑based criteria and educating staff on how decisions are made, organizations can reduce the influence of outcome bias, improve trust, and strengthen their Just Culture foundation.</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797445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Lack of transparency in how incidents are assessed and how decisions are made is a critical barrier to implementing a Just Culture. When staff do not understand what will happen after an incident is reported, fear increases, and reporting declines. In many organizations, investigative processes are poorly communicated, leading to misconceptions about potential consequences. Research shows that healthcare workers often do not know how actions are evaluated or how leadership determines appropriate responses to different types of behavior. This uncertainty undermines trust in the system and prevents consistent adoption of Just Culture principles. Organizations must communicate openly about the processes used to assess incidents, including how information is gathered, how human factors are considered, and how decisions are reached. Providing examples of past investigations, anonymized for privacy, can help staff understand what to expect. Transparency also involves clarifying what constitutes human error, at‑risk behavior, or reckless behavior, enabling staff to self‑assess and understand leadership perspectives. Clear documentation of assessment frameworks and decision‑making pathways is essential. Training programs should educate staff on investigative principles, ensuring consistency between organizational expectations and daily practice. Leaders must also ensure follow‑up communication after incidents, reinforcing accountability while emphasizing learning. Transparent processes reduce anxiety, promote fair treatment, and increase reporting rates, which are vital for organizational learning. By creating open communication channels and sharing how assessments are conducted, organizations strengthen psychological safety and encourage employees to participate actively in safety and improvement initiatives.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4225893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Inconsistent assessment processes present a significant challenge to implementing a Just Culture. When different leaders or departments apply varying standards to similar incidents, perceptions of unfairness arise, eroding trust and discouraging staff from reporting errors or concerns. Consistency is essential for a Just Culture because it ensures that individuals are treated equitably across the organization, regardless of their role or department. In many organizations, variations occur due to differences in leadership styles, lack of formalized investigative training, or absence of standardized decision‑making tools. Some leaders may focus heavily on individual behavior, while others emphasize systemic issues, creating confusion among staff about what to expect. To overcome this barrier, organizations must adopt structured and consistent investigative processes grounded in human factors science. Standardized assessment frameworks, such as decision trees or behavior evaluation models, ensure that similar cases are evaluated consistently. Leadership teams must receive coordinated training to ensure alignment in responding to incidents, and multidisciplinary review committees can be established to further ensure equitable evaluations. Communication about how decisions are made should be ongoing. Clear guidelines help staff understand expectations and increase confidence in the fairness of the system. Regular audits of incident assessments can identify inconsistencies and guide improvements. Ultimately, consistent assessment processes promote fairness, strengthen trust, and reinforce the learning‑oriented goals of a Just Culture.</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642038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Emotional responses and communication barriers play a substantial role in limiting the successful implementation of a Just Culture. Research indicates that open communication is critical, yet difficult to achieve, because staff frequently experience strong emotions—such as fear, guilt, or anxiety—following incidents. These emotions affect how individuals report, discuss, and learn from events. Additionally, employees may fear judgment not only from leadership but also from peers, regulators, or the public. In healthcare organizations, clinicians have expressed concern that external pressures, such as media scrutiny, intensify emotional reactions. Leaders must therefore strike a balance between addressing emotional needs and focusing on facts. Facilitating open discussion requires structured venues for reflection, such as debriefing sessions, peer support programs, and non‑punitive review meetings. These forums help normalize emotional responses and promote transparent dialogue. Communication barriers also arise from variations in individual perspectives on incidents. Staff may disagree on causes, responsibility, or appropriate actions. A Just Culture requires acknowledging these differing views while maintaining a fair and consistent process. Leaders should encourage respectful dialogue and model empathetic communication. Emotional safety is a prerequisite for psychological safety, which in turn supports honest reporting and active participation in improvement efforts. Organizations must also manage tensions between openness and privacy, ensuring that individuals involved in incidents are protected while still enabling collective learning. By addressing emotional and communication challenges proactively, organizations create an environment where Just Culture principles can flourish, leading to enhanced trust, collaboration, and ongoing safety improvement.</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194058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Beyond blame, outcome bias, and transparency issues, organizations implementing a Just Culture face several broader challenges. One challenge is the lack of a shared definition of Just Culture across departments, which leads to inconsistent expectations and fragmented implementation. Studies show that staff in some settings are unfamiliar with the term entirely, leading to confusion about how it should influence behaviors and decision‑making. Another challenge is balancing accountability with learning. While Just Culture emphasizes fairness, it still requires addressing unsafe behaviors, and leaders may struggle to find the right balance between supporting staff and ensuring accountability. Additionally, external pressures—including regulatory requirements, accreditation standards, and public expectations—can complicate internal adoption efforts. Organizations must ensure that their Just Culture practices align with external mandates while maintaining internal fairness. Leadership commitment is also crucial; without visible, sustained support from senior leaders, cultural initiatives often lose momentum. Finally, resource limitations—such as staffing shortages and insufficient time for training—can hinder efforts to educate employees and maintain consistent processes. Organizations must proactively plan for these constraints by integrating Just Culture training into existing structures and providing time for reflection and learning. Addressing these broader challenges requires coordinated strategy, organizational alignment, and sustained leadership engagement.</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247979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visually represents the main barriers to implementing a Just Culture, including blame orientation, outcome bias, lack of transparency, inconsistent assessment processes, emotional challenges, and organizational misalignment. The graphic synthesizes findings from research and highlights how these barriers interact to affect reporting behavior, trust, and organizational learning. While each barrier contributes individually to resistance, their combined effect creates a complex cultural environment that requires thoughtful and sustained intervention.</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22582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Implementing a Just Culture requires addressing a range of interconnected barriers—cognitive, emotional, procedural, and organizational. Overcoming these challenges begins with establishing a shared understanding of what Just Culture means and clearly communicating expectations around incident reporting and assessment. Leaders must model fairness, promote psychological safety, and ensure transparency in decision‑making. Standardized investigative processes help reduce inconsistency, outcome bias, and perceptions of unfairness. Equally important is acknowledging and supporting the emotional experiences of staff, providing structured opportunities for reflective learning. Sustained leadership engagement is essential to maintaining trust and reinforcing cultural values. Organizations should prioritize training, open communication, and systemic learning approaches to build confidence in the fairness of Just Culture practices. When implemented effectively, Just Culture promotes safety, strengthens organizational trust, and drives continuous improvement, ultimately benefiting both staff and the populations they serve.</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22599446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33CFE-EC07-0EAF-FBDB-C5D89C80EB1B}"/>
              </a:ext>
            </a:extLst>
          </p:cNvPr>
          <p:cNvSpPr>
            <a:spLocks noGrp="1"/>
          </p:cNvSpPr>
          <p:nvPr>
            <p:ph type="title"/>
          </p:nvPr>
        </p:nvSpPr>
        <p:spPr>
          <a:xfrm>
            <a:off x="7168896" y="934624"/>
            <a:ext cx="4219626" cy="2925887"/>
          </a:xfrm>
        </p:spPr>
        <p:txBody>
          <a:bodyPr anchor="b">
            <a:normAutofit/>
          </a:bodyPr>
          <a:lstStyle/>
          <a:p>
            <a:r>
              <a:rPr lang="en-US" sz="4400" dirty="0"/>
              <a:t>Barriers and Challenges to Implementing a Just Culture</a:t>
            </a:r>
          </a:p>
        </p:txBody>
      </p:sp>
      <p:sp>
        <p:nvSpPr>
          <p:cNvPr id="3" name="Subtitle 2">
            <a:extLst>
              <a:ext uri="{FF2B5EF4-FFF2-40B4-BE49-F238E27FC236}">
                <a16:creationId xmlns:a16="http://schemas.microsoft.com/office/drawing/2014/main" id="{030188B6-3AE7-7D37-3442-62AB648644CD}"/>
              </a:ext>
            </a:extLst>
          </p:cNvPr>
          <p:cNvSpPr>
            <a:spLocks noGrp="1"/>
          </p:cNvSpPr>
          <p:nvPr>
            <p:ph type="subTitle" idx="1"/>
          </p:nvPr>
        </p:nvSpPr>
        <p:spPr>
          <a:xfrm>
            <a:off x="7168895" y="4164266"/>
            <a:ext cx="4219626" cy="1751654"/>
          </a:xfrm>
        </p:spPr>
        <p:txBody>
          <a:bodyPr anchor="t">
            <a:normAutofit fontScale="92500" lnSpcReduction="10000"/>
          </a:bodyPr>
          <a:lstStyle/>
          <a:p>
            <a:r>
              <a:rPr lang="en-US" dirty="0"/>
              <a:t>Understanding obstacles in fostering fairness at work</a:t>
            </a:r>
          </a:p>
          <a:p>
            <a:r>
              <a:rPr lang="en-US"/>
              <a:t>Darreon Tolen</a:t>
            </a:r>
          </a:p>
          <a:p>
            <a:r>
              <a:rPr lang="en-US"/>
              <a:t>CSD380 </a:t>
            </a:r>
          </a:p>
          <a:p>
            <a:r>
              <a:rPr lang="en-US"/>
              <a:t>Module 9.2</a:t>
            </a:r>
          </a:p>
        </p:txBody>
      </p:sp>
      <p:pic>
        <p:nvPicPr>
          <p:cNvPr id="4" name="Picture 3" descr="3D rendering of game pieces tied together with a rope">
            <a:extLst>
              <a:ext uri="{FF2B5EF4-FFF2-40B4-BE49-F238E27FC236}">
                <a16:creationId xmlns:a16="http://schemas.microsoft.com/office/drawing/2014/main" id="{E0122CC4-AF33-4AFA-81EF-2460EBE823C7}"/>
              </a:ext>
            </a:extLst>
          </p:cNvPr>
          <p:cNvPicPr>
            <a:picLocks noChangeAspect="1"/>
          </p:cNvPicPr>
          <p:nvPr/>
        </p:nvPicPr>
        <p:blipFill>
          <a:blip r:embed="rId3"/>
          <a:srcRect l="675" r="27312"/>
          <a:stretch>
            <a:fillRect/>
          </a:stretch>
        </p:blipFill>
        <p:spPr>
          <a:xfrm>
            <a:off x="20" y="10"/>
            <a:ext cx="6584930" cy="6857990"/>
          </a:xfrm>
          <a:prstGeom prst="rect">
            <a:avLst/>
          </a:prstGeom>
        </p:spPr>
      </p:pic>
    </p:spTree>
    <p:extLst>
      <p:ext uri="{BB962C8B-B14F-4D97-AF65-F5344CB8AC3E}">
        <p14:creationId xmlns:p14="http://schemas.microsoft.com/office/powerpoint/2010/main" val="326182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500"/>
                                  </p:stCondLst>
                                  <p:iterate>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700"/>
                                        <p:tgtEl>
                                          <p:spTgt spid="3">
                                            <p:txEl>
                                              <p:pRg st="3" end="3"/>
                                            </p:txEl>
                                          </p:spTgt>
                                        </p:tgtEl>
                                      </p:cBhvr>
                                    </p:animEffect>
                                  </p:childTnLst>
                                </p:cTn>
                              </p:par>
                              <p:par>
                                <p:cTn id="26" presetID="42" presetClass="entr" presetSubtype="0" fill="hold" grpId="1" nodeType="withEffect">
                                  <p:stCondLst>
                                    <p:cond delay="250"/>
                                  </p:stCondLst>
                                  <p:iterate>
                                    <p:tmPct val="10000"/>
                                  </p:iterate>
                                  <p:childTnLst>
                                    <p:set>
                                      <p:cBhvr>
                                        <p:cTn id="27" dur="1" fill="hold">
                                          <p:stCondLst>
                                            <p:cond delay="0"/>
                                          </p:stCondLst>
                                        </p:cTn>
                                        <p:tgtEl>
                                          <p:spTgt spid="3"/>
                                        </p:tgtEl>
                                        <p:attrNameLst>
                                          <p:attrName>style.visibility</p:attrName>
                                        </p:attrNameLst>
                                      </p:cBhvr>
                                      <p:to>
                                        <p:strVal val="visible"/>
                                      </p:to>
                                    </p:set>
                                    <p:animEffect transition="in" filter="fade">
                                      <p:cBhvr>
                                        <p:cTn id="28" dur="250"/>
                                        <p:tgtEl>
                                          <p:spTgt spid="3"/>
                                        </p:tgtEl>
                                      </p:cBhvr>
                                    </p:animEffect>
                                    <p:anim calcmode="lin" valueType="num">
                                      <p:cBhvr>
                                        <p:cTn id="29" dur="250" fill="hold"/>
                                        <p:tgtEl>
                                          <p:spTgt spid="3"/>
                                        </p:tgtEl>
                                        <p:attrNameLst>
                                          <p:attrName>ppt_x</p:attrName>
                                        </p:attrNameLst>
                                      </p:cBhvr>
                                      <p:tavLst>
                                        <p:tav tm="0">
                                          <p:val>
                                            <p:strVal val="#ppt_x"/>
                                          </p:val>
                                        </p:tav>
                                        <p:tav tm="100000">
                                          <p:val>
                                            <p:strVal val="#ppt_x"/>
                                          </p:val>
                                        </p:tav>
                                      </p:tavLst>
                                    </p:anim>
                                    <p:anim calcmode="lin" valueType="num">
                                      <p:cBhvr>
                                        <p:cTn id="3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F3684-1652-1B9E-450A-E2A2771493F0}"/>
              </a:ext>
            </a:extLst>
          </p:cNvPr>
          <p:cNvSpPr>
            <a:spLocks noGrp="1"/>
          </p:cNvSpPr>
          <p:nvPr>
            <p:ph type="ctrTitle"/>
          </p:nvPr>
        </p:nvSpPr>
        <p:spPr>
          <a:xfrm>
            <a:off x="1522013" y="1282325"/>
            <a:ext cx="8893834" cy="3988550"/>
          </a:xfrm>
        </p:spPr>
        <p:txBody>
          <a:bodyPr anchor="ctr">
            <a:normAutofit/>
          </a:bodyPr>
          <a:lstStyle/>
          <a:p>
            <a:r>
              <a:rPr lang="en-US"/>
              <a:t>Challenges to Implementing a Just Culture</a:t>
            </a:r>
          </a:p>
        </p:txBody>
      </p:sp>
    </p:spTree>
    <p:extLst>
      <p:ext uri="{BB962C8B-B14F-4D97-AF65-F5344CB8AC3E}">
        <p14:creationId xmlns:p14="http://schemas.microsoft.com/office/powerpoint/2010/main" val="25415013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A353A-F9FB-7BD9-DDD2-B2CD41B1B232}"/>
              </a:ext>
            </a:extLst>
          </p:cNvPr>
          <p:cNvSpPr>
            <a:spLocks noGrp="1"/>
          </p:cNvSpPr>
          <p:nvPr>
            <p:ph type="title"/>
          </p:nvPr>
        </p:nvSpPr>
        <p:spPr>
          <a:xfrm>
            <a:off x="612647" y="552478"/>
            <a:ext cx="6858000" cy="932688"/>
          </a:xfrm>
        </p:spPr>
        <p:txBody>
          <a:bodyPr anchor="b">
            <a:normAutofit/>
          </a:bodyPr>
          <a:lstStyle/>
          <a:p>
            <a:r>
              <a:rPr lang="en-US" sz="2800"/>
              <a:t>Understanding the Concept of a Just Culture</a:t>
            </a:r>
          </a:p>
        </p:txBody>
      </p:sp>
      <p:sp>
        <p:nvSpPr>
          <p:cNvPr id="3" name="Content Placeholder 2">
            <a:extLst>
              <a:ext uri="{FF2B5EF4-FFF2-40B4-BE49-F238E27FC236}">
                <a16:creationId xmlns:a16="http://schemas.microsoft.com/office/drawing/2014/main" id="{8F30BB7E-2D09-FD71-85BF-C4BEEACF584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Core Principles of Just Culture</a:t>
            </a:r>
          </a:p>
          <a:p>
            <a:pPr marL="0" lvl="1" indent="0">
              <a:buFont typeface="Arial" panose="020B0604020202020204" pitchFamily="34" charset="0"/>
              <a:buNone/>
            </a:pPr>
            <a:r>
              <a:rPr lang="en-US" sz="1400"/>
              <a:t>Focuses on learning and accountability instead of blame to promote fair reporting and improvement.</a:t>
            </a:r>
          </a:p>
          <a:p>
            <a:pPr marL="0" indent="0">
              <a:spcBef>
                <a:spcPts val="2500"/>
              </a:spcBef>
              <a:buFont typeface="Arial" panose="020B0604020202020204" pitchFamily="34" charset="0"/>
              <a:buNone/>
            </a:pPr>
            <a:r>
              <a:rPr lang="en-US" sz="1400" b="1"/>
              <a:t>Challenges in Adoption</a:t>
            </a:r>
          </a:p>
          <a:p>
            <a:pPr marL="0" lvl="1" indent="0">
              <a:buFont typeface="Arial" panose="020B0604020202020204" pitchFamily="34" charset="0"/>
              <a:buNone/>
            </a:pPr>
            <a:r>
              <a:rPr lang="en-US" sz="1400"/>
              <a:t>Building shared understanding and overcoming blame culture perceptions remain major organizational challenges.</a:t>
            </a:r>
          </a:p>
          <a:p>
            <a:pPr marL="0" indent="0">
              <a:spcBef>
                <a:spcPts val="2500"/>
              </a:spcBef>
              <a:buFont typeface="Arial" panose="020B0604020202020204" pitchFamily="34" charset="0"/>
              <a:buNone/>
            </a:pPr>
            <a:r>
              <a:rPr lang="en-US" sz="1400" b="1"/>
              <a:t>Leadership and Education Role</a:t>
            </a:r>
          </a:p>
          <a:p>
            <a:pPr marL="0" lvl="1" indent="0">
              <a:buFont typeface="Arial" panose="020B0604020202020204" pitchFamily="34" charset="0"/>
              <a:buNone/>
            </a:pPr>
            <a:r>
              <a:rPr lang="en-US" sz="1400"/>
              <a:t>Leadership must model fairness and transparency, supported by ongoing staff training and clear communication.</a:t>
            </a:r>
          </a:p>
          <a:p>
            <a:pPr marL="0" indent="0">
              <a:spcBef>
                <a:spcPts val="2500"/>
              </a:spcBef>
              <a:buFont typeface="Arial" panose="020B0604020202020204" pitchFamily="34" charset="0"/>
              <a:buNone/>
            </a:pPr>
            <a:r>
              <a:rPr lang="en-US" sz="1400" b="1"/>
              <a:t>Systemic Improvement Focus</a:t>
            </a:r>
          </a:p>
          <a:p>
            <a:pPr marL="0" lvl="1" indent="0">
              <a:buFont typeface="Arial" panose="020B0604020202020204" pitchFamily="34" charset="0"/>
              <a:buNone/>
            </a:pPr>
            <a:r>
              <a:rPr lang="en-US" sz="1400"/>
              <a:t>Distinguishes human error from risky behavior to ensure proportionate, fair responses that improve systems.</a:t>
            </a:r>
          </a:p>
        </p:txBody>
      </p:sp>
      <p:pic>
        <p:nvPicPr>
          <p:cNvPr id="5" name="Content Placeholder 4" descr="Two pilots standing in front of a corporate airplane.">
            <a:extLst>
              <a:ext uri="{FF2B5EF4-FFF2-40B4-BE49-F238E27FC236}">
                <a16:creationId xmlns:a16="http://schemas.microsoft.com/office/drawing/2014/main" id="{8C517989-22DF-4A69-BEA1-CD3D3FC7036E}"/>
              </a:ext>
            </a:extLst>
          </p:cNvPr>
          <p:cNvPicPr>
            <a:picLocks noGrp="1" noChangeAspect="1"/>
          </p:cNvPicPr>
          <p:nvPr>
            <p:ph type="pic" sz="quarter" idx="13"/>
          </p:nvPr>
        </p:nvPicPr>
        <p:blipFill>
          <a:blip r:embed="rId3"/>
          <a:srcRect l="20615" r="39476"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1441878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08DA6-A507-7244-3545-D1C52B91093A}"/>
              </a:ext>
            </a:extLst>
          </p:cNvPr>
          <p:cNvSpPr>
            <a:spLocks noGrp="1"/>
          </p:cNvSpPr>
          <p:nvPr>
            <p:ph type="title"/>
          </p:nvPr>
        </p:nvSpPr>
        <p:spPr>
          <a:xfrm>
            <a:off x="612647" y="552478"/>
            <a:ext cx="6858000" cy="932688"/>
          </a:xfrm>
        </p:spPr>
        <p:txBody>
          <a:bodyPr anchor="b">
            <a:normAutofit/>
          </a:bodyPr>
          <a:lstStyle/>
          <a:p>
            <a:r>
              <a:rPr lang="en-US" sz="2800"/>
              <a:t>Blame Orientation as a Cultural Barrier</a:t>
            </a:r>
          </a:p>
        </p:txBody>
      </p:sp>
      <p:sp>
        <p:nvSpPr>
          <p:cNvPr id="3" name="Content Placeholder 2">
            <a:extLst>
              <a:ext uri="{FF2B5EF4-FFF2-40B4-BE49-F238E27FC236}">
                <a16:creationId xmlns:a16="http://schemas.microsoft.com/office/drawing/2014/main" id="{623E6A1A-7A7F-FCC8-8B28-C8C4A82876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Impact of Blame Culture</a:t>
            </a:r>
          </a:p>
          <a:p>
            <a:pPr marL="0" lvl="1" indent="0">
              <a:buFont typeface="Arial" panose="020B0604020202020204" pitchFamily="34" charset="0"/>
              <a:buNone/>
            </a:pPr>
            <a:r>
              <a:rPr lang="en-US" sz="1400"/>
              <a:t>Blame culture leads to fear, underreporting of errors, and hinders transparency and organizational learning.</a:t>
            </a:r>
          </a:p>
          <a:p>
            <a:pPr marL="0" indent="0">
              <a:spcBef>
                <a:spcPts val="2500"/>
              </a:spcBef>
              <a:buFont typeface="Arial" panose="020B0604020202020204" pitchFamily="34" charset="0"/>
              <a:buNone/>
            </a:pPr>
            <a:r>
              <a:rPr lang="en-US" sz="1400" b="1"/>
              <a:t>Just Culture Principles</a:t>
            </a:r>
          </a:p>
          <a:p>
            <a:pPr marL="0" lvl="1" indent="0">
              <a:buFont typeface="Arial" panose="020B0604020202020204" pitchFamily="34" charset="0"/>
              <a:buNone/>
            </a:pPr>
            <a:r>
              <a:rPr lang="en-US" sz="1400"/>
              <a:t>A Just Culture promotes learning from errors by focusing on system factors, not individual fault.</a:t>
            </a:r>
          </a:p>
          <a:p>
            <a:pPr marL="0" indent="0">
              <a:spcBef>
                <a:spcPts val="2500"/>
              </a:spcBef>
              <a:buFont typeface="Arial" panose="020B0604020202020204" pitchFamily="34" charset="0"/>
              <a:buNone/>
            </a:pPr>
            <a:r>
              <a:rPr lang="en-US" sz="1400" b="1"/>
              <a:t>Strategies to Overcome Blame</a:t>
            </a:r>
          </a:p>
          <a:p>
            <a:pPr marL="0" lvl="1" indent="0">
              <a:buFont typeface="Arial" panose="020B0604020202020204" pitchFamily="34" charset="0"/>
              <a:buNone/>
            </a:pPr>
            <a:r>
              <a:rPr lang="en-US" sz="1400"/>
              <a:t>Implement transparent investigations, reduce biases, and build psychological safety to encourage open reporting.</a:t>
            </a:r>
          </a:p>
          <a:p>
            <a:pPr marL="0" indent="0">
              <a:spcBef>
                <a:spcPts val="2500"/>
              </a:spcBef>
              <a:buFont typeface="Arial" panose="020B0604020202020204" pitchFamily="34" charset="0"/>
              <a:buNone/>
            </a:pPr>
            <a:r>
              <a:rPr lang="en-US" sz="1400" b="1"/>
              <a:t>Leadership and Culture Change</a:t>
            </a:r>
          </a:p>
          <a:p>
            <a:pPr marL="0" lvl="1" indent="0">
              <a:buFont typeface="Arial" panose="020B0604020202020204" pitchFamily="34" charset="0"/>
              <a:buNone/>
            </a:pPr>
            <a:r>
              <a:rPr lang="en-US" sz="1400"/>
              <a:t>Leadership commitment and consistent messaging are essential to shift from blame to shared accountability.</a:t>
            </a:r>
          </a:p>
        </p:txBody>
      </p:sp>
      <p:pic>
        <p:nvPicPr>
          <p:cNvPr id="5" name="Content Placeholder 4" descr="Shot of a group of doctors having a meeting in a hospital">
            <a:extLst>
              <a:ext uri="{FF2B5EF4-FFF2-40B4-BE49-F238E27FC236}">
                <a16:creationId xmlns:a16="http://schemas.microsoft.com/office/drawing/2014/main" id="{4D16F670-E84B-4C70-9F3E-A89D9086FA1B}"/>
              </a:ext>
            </a:extLst>
          </p:cNvPr>
          <p:cNvPicPr>
            <a:picLocks noGrp="1" noChangeAspect="1"/>
          </p:cNvPicPr>
          <p:nvPr>
            <p:ph type="pic" sz="quarter" idx="13"/>
          </p:nvPr>
        </p:nvPicPr>
        <p:blipFill>
          <a:blip r:embed="rId3"/>
          <a:srcRect l="30073" r="20155" b="2"/>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699205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7EFAC-40DF-D579-A2C8-076556650FA1}"/>
              </a:ext>
            </a:extLst>
          </p:cNvPr>
          <p:cNvSpPr>
            <a:spLocks noGrp="1"/>
          </p:cNvSpPr>
          <p:nvPr>
            <p:ph type="title"/>
          </p:nvPr>
        </p:nvSpPr>
        <p:spPr>
          <a:xfrm>
            <a:off x="612647" y="552478"/>
            <a:ext cx="6858000" cy="932688"/>
          </a:xfrm>
        </p:spPr>
        <p:txBody>
          <a:bodyPr anchor="b">
            <a:normAutofit/>
          </a:bodyPr>
          <a:lstStyle/>
          <a:p>
            <a:r>
              <a:rPr lang="en-US" sz="2800"/>
              <a:t>Outcome Bias and Its Impact on Fair Decision‑Making</a:t>
            </a:r>
          </a:p>
        </p:txBody>
      </p:sp>
      <p:sp>
        <p:nvSpPr>
          <p:cNvPr id="3" name="Content Placeholder 2">
            <a:extLst>
              <a:ext uri="{FF2B5EF4-FFF2-40B4-BE49-F238E27FC236}">
                <a16:creationId xmlns:a16="http://schemas.microsoft.com/office/drawing/2014/main" id="{AC9ABE42-8EBC-A443-A15E-2CAC2EBA8A5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Understanding Outcome Bias</a:t>
            </a:r>
          </a:p>
          <a:p>
            <a:pPr marL="0" lvl="1" indent="0">
              <a:buFont typeface="Arial" panose="020B0604020202020204" pitchFamily="34" charset="0"/>
              <a:buNone/>
            </a:pPr>
            <a:r>
              <a:rPr lang="en-US" sz="1400"/>
              <a:t>Outcome bias leads to judging decisions based on results rather than the reasonableness of actions at the time.</a:t>
            </a:r>
          </a:p>
          <a:p>
            <a:pPr marL="0" indent="0">
              <a:spcBef>
                <a:spcPts val="2500"/>
              </a:spcBef>
              <a:buFont typeface="Arial" panose="020B0604020202020204" pitchFamily="34" charset="0"/>
              <a:buNone/>
            </a:pPr>
            <a:r>
              <a:rPr lang="en-US" sz="1400" b="1"/>
              <a:t>Impact on Just Culture</a:t>
            </a:r>
          </a:p>
          <a:p>
            <a:pPr marL="0" lvl="1" indent="0">
              <a:buFont typeface="Arial" panose="020B0604020202020204" pitchFamily="34" charset="0"/>
              <a:buNone/>
            </a:pPr>
            <a:r>
              <a:rPr lang="en-US" sz="1400"/>
              <a:t>Outcome bias discourages incident reporting and fosters mistrust by triggering harsh scrutiny after severe outcomes.</a:t>
            </a:r>
          </a:p>
          <a:p>
            <a:pPr marL="0" indent="0">
              <a:spcBef>
                <a:spcPts val="2500"/>
              </a:spcBef>
              <a:buFont typeface="Arial" panose="020B0604020202020204" pitchFamily="34" charset="0"/>
              <a:buNone/>
            </a:pPr>
            <a:r>
              <a:rPr lang="en-US" sz="1400" b="1"/>
              <a:t>Strategies to Overcome Bias</a:t>
            </a:r>
          </a:p>
          <a:p>
            <a:pPr marL="0" lvl="1" indent="0">
              <a:buFont typeface="Arial" panose="020B0604020202020204" pitchFamily="34" charset="0"/>
              <a:buNone/>
            </a:pPr>
            <a:r>
              <a:rPr lang="en-US" sz="1400"/>
              <a:t>Training and structured methods like substitution tests help separate outcome severity from behavioral assessment.</a:t>
            </a:r>
          </a:p>
          <a:p>
            <a:pPr marL="0" indent="0">
              <a:spcBef>
                <a:spcPts val="2500"/>
              </a:spcBef>
              <a:buFont typeface="Arial" panose="020B0604020202020204" pitchFamily="34" charset="0"/>
              <a:buNone/>
            </a:pPr>
            <a:r>
              <a:rPr lang="en-US" sz="1400" b="1"/>
              <a:t>Leadership and Cultural Change</a:t>
            </a:r>
          </a:p>
          <a:p>
            <a:pPr marL="0" lvl="1" indent="0">
              <a:buFont typeface="Arial" panose="020B0604020202020204" pitchFamily="34" charset="0"/>
              <a:buNone/>
            </a:pPr>
            <a:r>
              <a:rPr lang="en-US" sz="1400"/>
              <a:t>Leaders must foster fairness, shield assessments from external pressures, and promote transparent evaluation frameworks.</a:t>
            </a:r>
          </a:p>
        </p:txBody>
      </p:sp>
      <p:pic>
        <p:nvPicPr>
          <p:cNvPr id="5" name="Content Placeholder 4" descr="Photo of Mature female fray hair Doctor Involved In Discussion With His Patients during the day while sitting in her bright modern office. Successful medical doctors are discussing diagnosis and smiling during young patient visit. Great news for you! Cheerful mature woman gesturing while young couple sitting in front of her at the desk.">
            <a:extLst>
              <a:ext uri="{FF2B5EF4-FFF2-40B4-BE49-F238E27FC236}">
                <a16:creationId xmlns:a16="http://schemas.microsoft.com/office/drawing/2014/main" id="{C4FC3E15-143A-4409-9B9B-65958F4F0FDF}"/>
              </a:ext>
            </a:extLst>
          </p:cNvPr>
          <p:cNvPicPr>
            <a:picLocks noGrp="1" noChangeAspect="1"/>
          </p:cNvPicPr>
          <p:nvPr>
            <p:ph type="pic" sz="quarter" idx="13"/>
          </p:nvPr>
        </p:nvPicPr>
        <p:blipFill>
          <a:blip r:embed="rId3"/>
          <a:srcRect l="23264" r="36827"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490484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F5A8-CA55-AD37-0BC4-7541CB42D094}"/>
              </a:ext>
            </a:extLst>
          </p:cNvPr>
          <p:cNvSpPr>
            <a:spLocks noGrp="1"/>
          </p:cNvSpPr>
          <p:nvPr>
            <p:ph type="title"/>
          </p:nvPr>
        </p:nvSpPr>
        <p:spPr>
          <a:xfrm>
            <a:off x="612647" y="552478"/>
            <a:ext cx="6858000" cy="932688"/>
          </a:xfrm>
        </p:spPr>
        <p:txBody>
          <a:bodyPr anchor="b">
            <a:normAutofit/>
          </a:bodyPr>
          <a:lstStyle/>
          <a:p>
            <a:r>
              <a:rPr lang="en-US" sz="2800"/>
              <a:t>Lack of Transparency in Incident Assessment</a:t>
            </a:r>
          </a:p>
        </p:txBody>
      </p:sp>
      <p:sp>
        <p:nvSpPr>
          <p:cNvPr id="3" name="Content Placeholder 2">
            <a:extLst>
              <a:ext uri="{FF2B5EF4-FFF2-40B4-BE49-F238E27FC236}">
                <a16:creationId xmlns:a16="http://schemas.microsoft.com/office/drawing/2014/main" id="{91528312-118E-E3A3-A545-8AB77ACD118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Impact of Poor Transparency</a:t>
            </a:r>
          </a:p>
          <a:p>
            <a:pPr marL="0" lvl="1" indent="0">
              <a:buFont typeface="Arial" panose="020B0604020202020204" pitchFamily="34" charset="0"/>
              <a:buNone/>
            </a:pPr>
            <a:r>
              <a:rPr lang="en-US" sz="1400"/>
              <a:t>Lack of clear communication about incident assessments increases fear and reduces reporting among staff.</a:t>
            </a:r>
          </a:p>
          <a:p>
            <a:pPr marL="0" indent="0">
              <a:spcBef>
                <a:spcPts val="2500"/>
              </a:spcBef>
              <a:buFont typeface="Arial" panose="020B0604020202020204" pitchFamily="34" charset="0"/>
              <a:buNone/>
            </a:pPr>
            <a:r>
              <a:rPr lang="en-US" sz="1400" b="1"/>
              <a:t>Open Communication Importance</a:t>
            </a:r>
          </a:p>
          <a:p>
            <a:pPr marL="0" lvl="1" indent="0">
              <a:buFont typeface="Arial" panose="020B0604020202020204" pitchFamily="34" charset="0"/>
              <a:buNone/>
            </a:pPr>
            <a:r>
              <a:rPr lang="en-US" sz="1400"/>
              <a:t>Organizations must openly share assessment processes and decision criteria to build trust and clarity.</a:t>
            </a:r>
          </a:p>
          <a:p>
            <a:pPr marL="0" indent="0">
              <a:spcBef>
                <a:spcPts val="2500"/>
              </a:spcBef>
              <a:buFont typeface="Arial" panose="020B0604020202020204" pitchFamily="34" charset="0"/>
              <a:buNone/>
            </a:pPr>
            <a:r>
              <a:rPr lang="en-US" sz="1400" b="1"/>
              <a:t>Training and Follow-up</a:t>
            </a:r>
          </a:p>
          <a:p>
            <a:pPr marL="0" lvl="1" indent="0">
              <a:buFont typeface="Arial" panose="020B0604020202020204" pitchFamily="34" charset="0"/>
              <a:buNone/>
            </a:pPr>
            <a:r>
              <a:rPr lang="en-US" sz="1400"/>
              <a:t>Training on investigative principles and follow-up communication reinforces accountability and learning.</a:t>
            </a:r>
          </a:p>
          <a:p>
            <a:pPr marL="0" indent="0">
              <a:spcBef>
                <a:spcPts val="2500"/>
              </a:spcBef>
              <a:buFont typeface="Arial" panose="020B0604020202020204" pitchFamily="34" charset="0"/>
              <a:buNone/>
            </a:pPr>
            <a:r>
              <a:rPr lang="en-US" sz="1400" b="1"/>
              <a:t>Promoting Psychological Safety</a:t>
            </a:r>
          </a:p>
          <a:p>
            <a:pPr marL="0" lvl="1" indent="0">
              <a:buFont typeface="Arial" panose="020B0604020202020204" pitchFamily="34" charset="0"/>
              <a:buNone/>
            </a:pPr>
            <a:r>
              <a:rPr lang="en-US" sz="1400"/>
              <a:t>Transparency strengthens psychological safety, encouraging staff participation in safety and improvement efforts.</a:t>
            </a:r>
          </a:p>
        </p:txBody>
      </p:sp>
      <p:pic>
        <p:nvPicPr>
          <p:cNvPr id="5" name="Content Placeholder 4" descr="Female doctor working at office  and smiling at camera, office interior">
            <a:extLst>
              <a:ext uri="{FF2B5EF4-FFF2-40B4-BE49-F238E27FC236}">
                <a16:creationId xmlns:a16="http://schemas.microsoft.com/office/drawing/2014/main" id="{6272D3FB-7494-4E41-B0F6-F8F29D88BA43}"/>
              </a:ext>
            </a:extLst>
          </p:cNvPr>
          <p:cNvPicPr>
            <a:picLocks noGrp="1" noChangeAspect="1"/>
          </p:cNvPicPr>
          <p:nvPr>
            <p:ph type="pic" sz="quarter" idx="13"/>
          </p:nvPr>
        </p:nvPicPr>
        <p:blipFill>
          <a:blip r:embed="rId3"/>
          <a:srcRect l="14420" r="45670"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838395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9C96-222D-8918-1478-026765EF8E32}"/>
              </a:ext>
            </a:extLst>
          </p:cNvPr>
          <p:cNvSpPr>
            <a:spLocks noGrp="1"/>
          </p:cNvSpPr>
          <p:nvPr>
            <p:ph type="title"/>
          </p:nvPr>
        </p:nvSpPr>
        <p:spPr>
          <a:xfrm>
            <a:off x="612647" y="552478"/>
            <a:ext cx="6858000" cy="932688"/>
          </a:xfrm>
        </p:spPr>
        <p:txBody>
          <a:bodyPr anchor="b">
            <a:normAutofit/>
          </a:bodyPr>
          <a:lstStyle/>
          <a:p>
            <a:r>
              <a:rPr lang="en-US" sz="2800"/>
              <a:t>Inconsistent Assessment Processes Across an Organization</a:t>
            </a:r>
          </a:p>
        </p:txBody>
      </p:sp>
      <p:sp>
        <p:nvSpPr>
          <p:cNvPr id="3" name="Content Placeholder 2">
            <a:extLst>
              <a:ext uri="{FF2B5EF4-FFF2-40B4-BE49-F238E27FC236}">
                <a16:creationId xmlns:a16="http://schemas.microsoft.com/office/drawing/2014/main" id="{A0C9BB8A-1EE1-E537-4FFE-8A373E7D08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Challenges of Inconsistent Assessments</a:t>
            </a:r>
          </a:p>
          <a:p>
            <a:pPr marL="0" lvl="1" indent="0">
              <a:buFont typeface="Arial" panose="020B0604020202020204" pitchFamily="34" charset="0"/>
              <a:buNone/>
            </a:pPr>
            <a:r>
              <a:rPr lang="en-US" sz="1400"/>
              <a:t>Varying standards across departments create perceptions of unfairness and erode trust in the organization.</a:t>
            </a:r>
          </a:p>
          <a:p>
            <a:pPr marL="0" indent="0">
              <a:spcBef>
                <a:spcPts val="2500"/>
              </a:spcBef>
              <a:buFont typeface="Arial" panose="020B0604020202020204" pitchFamily="34" charset="0"/>
              <a:buNone/>
            </a:pPr>
            <a:r>
              <a:rPr lang="en-US" sz="1400" b="1"/>
              <a:t>Need for Standardization</a:t>
            </a:r>
          </a:p>
          <a:p>
            <a:pPr marL="0" lvl="1" indent="0">
              <a:buFont typeface="Arial" panose="020B0604020202020204" pitchFamily="34" charset="0"/>
              <a:buNone/>
            </a:pPr>
            <a:r>
              <a:rPr lang="en-US" sz="1400"/>
              <a:t>Consistent processes using standardized frameworks ensure equitable treatment regardless of role or department.</a:t>
            </a:r>
          </a:p>
          <a:p>
            <a:pPr marL="0" indent="0">
              <a:spcBef>
                <a:spcPts val="2500"/>
              </a:spcBef>
              <a:buFont typeface="Arial" panose="020B0604020202020204" pitchFamily="34" charset="0"/>
              <a:buNone/>
            </a:pPr>
            <a:r>
              <a:rPr lang="en-US" sz="1400" b="1"/>
              <a:t>Leadership Alignment &amp; Training</a:t>
            </a:r>
          </a:p>
          <a:p>
            <a:pPr marL="0" lvl="1" indent="0">
              <a:buFont typeface="Arial" panose="020B0604020202020204" pitchFamily="34" charset="0"/>
              <a:buNone/>
            </a:pPr>
            <a:r>
              <a:rPr lang="en-US" sz="1400"/>
              <a:t>Coordinated leadership training aligns responses and reduces confusion across the organization.</a:t>
            </a:r>
          </a:p>
          <a:p>
            <a:pPr marL="0" indent="0">
              <a:spcBef>
                <a:spcPts val="2500"/>
              </a:spcBef>
              <a:buFont typeface="Arial" panose="020B0604020202020204" pitchFamily="34" charset="0"/>
              <a:buNone/>
            </a:pPr>
            <a:r>
              <a:rPr lang="en-US" sz="1400" b="1"/>
              <a:t>Ongoing Communication and Audits</a:t>
            </a:r>
          </a:p>
          <a:p>
            <a:pPr marL="0" lvl="1" indent="0">
              <a:buFont typeface="Arial" panose="020B0604020202020204" pitchFamily="34" charset="0"/>
              <a:buNone/>
            </a:pPr>
            <a:r>
              <a:rPr lang="en-US" sz="1400"/>
              <a:t>Clear guidelines and regular audits improve fairness, trust, and promote a learning culture.</a:t>
            </a:r>
          </a:p>
        </p:txBody>
      </p:sp>
      <p:pic>
        <p:nvPicPr>
          <p:cNvPr id="5" name="Content Placeholder 4" descr="High angle shot of a group of businesspeople having a meeting in an office">
            <a:extLst>
              <a:ext uri="{FF2B5EF4-FFF2-40B4-BE49-F238E27FC236}">
                <a16:creationId xmlns:a16="http://schemas.microsoft.com/office/drawing/2014/main" id="{77DBB6AC-1D60-4C7C-BD93-C0AB181CE51A}"/>
              </a:ext>
            </a:extLst>
          </p:cNvPr>
          <p:cNvPicPr>
            <a:picLocks noGrp="1" noChangeAspect="1"/>
          </p:cNvPicPr>
          <p:nvPr>
            <p:ph type="pic" sz="quarter" idx="13"/>
          </p:nvPr>
        </p:nvPicPr>
        <p:blipFill>
          <a:blip r:embed="rId3"/>
          <a:srcRect l="17386" r="42705"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941237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7738D-111E-0ABB-02FC-61680C1C647D}"/>
              </a:ext>
            </a:extLst>
          </p:cNvPr>
          <p:cNvSpPr>
            <a:spLocks noGrp="1"/>
          </p:cNvSpPr>
          <p:nvPr>
            <p:ph type="title"/>
          </p:nvPr>
        </p:nvSpPr>
        <p:spPr>
          <a:xfrm>
            <a:off x="612647" y="552478"/>
            <a:ext cx="6858000" cy="932688"/>
          </a:xfrm>
        </p:spPr>
        <p:txBody>
          <a:bodyPr anchor="b">
            <a:normAutofit/>
          </a:bodyPr>
          <a:lstStyle/>
          <a:p>
            <a:r>
              <a:rPr lang="en-US" sz="2800"/>
              <a:t>Emotional and Communication Challenges in Just Culture Adoption</a:t>
            </a:r>
          </a:p>
        </p:txBody>
      </p:sp>
      <p:sp>
        <p:nvSpPr>
          <p:cNvPr id="3" name="Content Placeholder 2">
            <a:extLst>
              <a:ext uri="{FF2B5EF4-FFF2-40B4-BE49-F238E27FC236}">
                <a16:creationId xmlns:a16="http://schemas.microsoft.com/office/drawing/2014/main" id="{CF2AAA3D-F0E6-ADC7-3A61-6735EC65426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Impact of Emotional Responses</a:t>
            </a:r>
          </a:p>
          <a:p>
            <a:pPr marL="0" lvl="1" indent="0">
              <a:buFont typeface="Arial" panose="020B0604020202020204" pitchFamily="34" charset="0"/>
              <a:buNone/>
            </a:pPr>
            <a:r>
              <a:rPr lang="en-US" sz="1400"/>
              <a:t>Strong emotions like fear and anxiety hinder open communication and affect incident reporting and learning.</a:t>
            </a:r>
          </a:p>
          <a:p>
            <a:pPr marL="0" indent="0">
              <a:spcBef>
                <a:spcPts val="2500"/>
              </a:spcBef>
              <a:buFont typeface="Arial" panose="020B0604020202020204" pitchFamily="34" charset="0"/>
              <a:buNone/>
            </a:pPr>
            <a:r>
              <a:rPr lang="en-US" sz="1400" b="1"/>
              <a:t>Facilitating Open Dialogue</a:t>
            </a:r>
          </a:p>
          <a:p>
            <a:pPr marL="0" lvl="1" indent="0">
              <a:buFont typeface="Arial" panose="020B0604020202020204" pitchFamily="34" charset="0"/>
              <a:buNone/>
            </a:pPr>
            <a:r>
              <a:rPr lang="en-US" sz="1400"/>
              <a:t>Structured forums such as debrief sessions and peer support promote transparent and non-punitive discussions.</a:t>
            </a:r>
          </a:p>
          <a:p>
            <a:pPr marL="0" indent="0">
              <a:spcBef>
                <a:spcPts val="2500"/>
              </a:spcBef>
              <a:buFont typeface="Arial" panose="020B0604020202020204" pitchFamily="34" charset="0"/>
              <a:buNone/>
            </a:pPr>
            <a:r>
              <a:rPr lang="en-US" sz="1400" b="1"/>
              <a:t>Managing Diverse Perspectives</a:t>
            </a:r>
          </a:p>
          <a:p>
            <a:pPr marL="0" lvl="1" indent="0">
              <a:buFont typeface="Arial" panose="020B0604020202020204" pitchFamily="34" charset="0"/>
              <a:buNone/>
            </a:pPr>
            <a:r>
              <a:rPr lang="en-US" sz="1400"/>
              <a:t>Acknowledging differing views on incidents requires fair processes and empathetic communication from leaders.</a:t>
            </a:r>
          </a:p>
          <a:p>
            <a:pPr marL="0" indent="0">
              <a:spcBef>
                <a:spcPts val="2500"/>
              </a:spcBef>
              <a:buFont typeface="Arial" panose="020B0604020202020204" pitchFamily="34" charset="0"/>
              <a:buNone/>
            </a:pPr>
            <a:r>
              <a:rPr lang="en-US" sz="1400" b="1"/>
              <a:t>Balancing Openness and Privacy</a:t>
            </a:r>
          </a:p>
          <a:p>
            <a:pPr marL="0" lvl="1" indent="0">
              <a:buFont typeface="Arial" panose="020B0604020202020204" pitchFamily="34" charset="0"/>
              <a:buNone/>
            </a:pPr>
            <a:r>
              <a:rPr lang="en-US" sz="1400"/>
              <a:t>Organizations must protect individual privacy while fostering collective learning to build trust and safety.</a:t>
            </a:r>
          </a:p>
        </p:txBody>
      </p:sp>
      <p:pic>
        <p:nvPicPr>
          <p:cNvPr id="5" name="Content Placeholder 4" descr="Mid adult female doctor discusses a patient's case with a senior male doctor. They are standing in a hospital skybridge.">
            <a:extLst>
              <a:ext uri="{FF2B5EF4-FFF2-40B4-BE49-F238E27FC236}">
                <a16:creationId xmlns:a16="http://schemas.microsoft.com/office/drawing/2014/main" id="{84A31FF5-0453-4C9E-8C7E-71640B8523ED}"/>
              </a:ext>
            </a:extLst>
          </p:cNvPr>
          <p:cNvPicPr>
            <a:picLocks noGrp="1" noChangeAspect="1"/>
          </p:cNvPicPr>
          <p:nvPr>
            <p:ph type="pic" sz="quarter" idx="13"/>
          </p:nvPr>
        </p:nvPicPr>
        <p:blipFill>
          <a:blip r:embed="rId3"/>
          <a:srcRect l="16125" r="43966"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245530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6B00-AF7D-4ADC-F4A2-8F0130430B0B}"/>
              </a:ext>
            </a:extLst>
          </p:cNvPr>
          <p:cNvSpPr>
            <a:spLocks noGrp="1"/>
          </p:cNvSpPr>
          <p:nvPr>
            <p:ph type="title"/>
          </p:nvPr>
        </p:nvSpPr>
        <p:spPr>
          <a:xfrm>
            <a:off x="612647" y="552478"/>
            <a:ext cx="6858000" cy="932688"/>
          </a:xfrm>
        </p:spPr>
        <p:txBody>
          <a:bodyPr anchor="b">
            <a:normAutofit/>
          </a:bodyPr>
          <a:lstStyle/>
          <a:p>
            <a:r>
              <a:rPr lang="en-US" sz="2800"/>
              <a:t>Additional Organizational Challenges Affecting Just Culture</a:t>
            </a:r>
          </a:p>
        </p:txBody>
      </p:sp>
      <p:sp>
        <p:nvSpPr>
          <p:cNvPr id="3" name="Content Placeholder 2">
            <a:extLst>
              <a:ext uri="{FF2B5EF4-FFF2-40B4-BE49-F238E27FC236}">
                <a16:creationId xmlns:a16="http://schemas.microsoft.com/office/drawing/2014/main" id="{2F1B385B-5EF3-02A2-64E7-C453927457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Lack of Shared Understanding</a:t>
            </a:r>
          </a:p>
          <a:p>
            <a:pPr marL="0" lvl="1" indent="0">
              <a:buFont typeface="Arial" panose="020B0604020202020204" pitchFamily="34" charset="0"/>
              <a:buNone/>
            </a:pPr>
            <a:r>
              <a:rPr lang="en-US" sz="1400"/>
              <a:t>Inconsistent definitions of Just Culture across departments cause fragmented implementation and staff confusion.</a:t>
            </a:r>
          </a:p>
          <a:p>
            <a:pPr marL="0" indent="0">
              <a:spcBef>
                <a:spcPts val="2500"/>
              </a:spcBef>
              <a:buFont typeface="Arial" panose="020B0604020202020204" pitchFamily="34" charset="0"/>
              <a:buNone/>
            </a:pPr>
            <a:r>
              <a:rPr lang="en-US" sz="1400" b="1"/>
              <a:t>Balancing Accountability and Learning</a:t>
            </a:r>
          </a:p>
          <a:p>
            <a:pPr marL="0" lvl="1" indent="0">
              <a:buFont typeface="Arial" panose="020B0604020202020204" pitchFamily="34" charset="0"/>
              <a:buNone/>
            </a:pPr>
            <a:r>
              <a:rPr lang="en-US" sz="1400"/>
              <a:t>Leaders struggle to balance fairness and accountability when addressing unsafe behaviors within the organization.</a:t>
            </a:r>
          </a:p>
          <a:p>
            <a:pPr marL="0" indent="0">
              <a:spcBef>
                <a:spcPts val="2500"/>
              </a:spcBef>
              <a:buFont typeface="Arial" panose="020B0604020202020204" pitchFamily="34" charset="0"/>
              <a:buNone/>
            </a:pPr>
            <a:r>
              <a:rPr lang="en-US" sz="1400" b="1"/>
              <a:t>External and Internal Pressures</a:t>
            </a:r>
          </a:p>
          <a:p>
            <a:pPr marL="0" lvl="1" indent="0">
              <a:buFont typeface="Arial" panose="020B0604020202020204" pitchFamily="34" charset="0"/>
              <a:buNone/>
            </a:pPr>
            <a:r>
              <a:rPr lang="en-US" sz="1400"/>
              <a:t>Regulatory and public expectations complicate Just Culture adoption, demanding alignment with standards and fairness.</a:t>
            </a:r>
          </a:p>
          <a:p>
            <a:pPr marL="0" indent="0">
              <a:spcBef>
                <a:spcPts val="2500"/>
              </a:spcBef>
              <a:buFont typeface="Arial" panose="020B0604020202020204" pitchFamily="34" charset="0"/>
              <a:buNone/>
            </a:pPr>
            <a:r>
              <a:rPr lang="en-US" sz="1400" b="1"/>
              <a:t>Leadership and Resource Constraints</a:t>
            </a:r>
          </a:p>
          <a:p>
            <a:pPr marL="0" lvl="1" indent="0">
              <a:buFont typeface="Arial" panose="020B0604020202020204" pitchFamily="34" charset="0"/>
              <a:buNone/>
            </a:pPr>
            <a:r>
              <a:rPr lang="en-US" sz="1400"/>
              <a:t>Sustained leadership support and adequate resources are essential for effective training and cultural change.</a:t>
            </a:r>
          </a:p>
        </p:txBody>
      </p:sp>
      <p:pic>
        <p:nvPicPr>
          <p:cNvPr id="5" name="Content Placeholder 4" descr="Business meeting. Marketing strategy Photos Business meeting">
            <a:extLst>
              <a:ext uri="{FF2B5EF4-FFF2-40B4-BE49-F238E27FC236}">
                <a16:creationId xmlns:a16="http://schemas.microsoft.com/office/drawing/2014/main" id="{71157B80-AF2E-47AF-B15C-7970E915F50A}"/>
              </a:ext>
            </a:extLst>
          </p:cNvPr>
          <p:cNvPicPr>
            <a:picLocks noGrp="1" noChangeAspect="1"/>
          </p:cNvPicPr>
          <p:nvPr>
            <p:ph type="pic" sz="quarter" idx="13"/>
          </p:nvPr>
        </p:nvPicPr>
        <p:blipFill>
          <a:blip r:embed="rId3"/>
          <a:srcRect l="33224" r="30156"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7183416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FC347-BFD8-FCBD-5D75-0FAFDA6C00B7}"/>
              </a:ext>
            </a:extLst>
          </p:cNvPr>
          <p:cNvSpPr>
            <a:spLocks noGrp="1"/>
          </p:cNvSpPr>
          <p:nvPr>
            <p:ph type="title"/>
          </p:nvPr>
        </p:nvSpPr>
        <p:spPr>
          <a:xfrm>
            <a:off x="612648" y="514649"/>
            <a:ext cx="10963655" cy="972373"/>
          </a:xfrm>
        </p:spPr>
        <p:txBody>
          <a:bodyPr anchor="b">
            <a:normAutofit/>
          </a:bodyPr>
          <a:lstStyle/>
          <a:p>
            <a:r>
              <a:rPr lang="en-US"/>
              <a:t>Graphic Overview of Key Barriers</a:t>
            </a:r>
          </a:p>
        </p:txBody>
      </p:sp>
      <p:graphicFrame>
        <p:nvGraphicFramePr>
          <p:cNvPr id="5" name="Content Placeholder 4">
            <a:extLst>
              <a:ext uri="{FF2B5EF4-FFF2-40B4-BE49-F238E27FC236}">
                <a16:creationId xmlns:a16="http://schemas.microsoft.com/office/drawing/2014/main" id="{9BE902AD-9E0E-4648-A23A-43A8C5FF7F58}"/>
              </a:ext>
            </a:extLst>
          </p:cNvPr>
          <p:cNvGraphicFramePr>
            <a:graphicFrameLocks noGrp="1"/>
          </p:cNvGraphicFramePr>
          <p:nvPr>
            <p:ph idx="1"/>
          </p:nvPr>
        </p:nvGraphicFramePr>
        <p:xfrm>
          <a:off x="612647" y="1878601"/>
          <a:ext cx="10963656" cy="4096202"/>
        </p:xfrm>
        <a:graphic>
          <a:graphicData uri="http://schemas.openxmlformats.org/drawingml/2006/table">
            <a:tbl>
              <a:tblPr firstRow="1" bandRow="1">
                <a:noFill/>
                <a:tableStyleId>{5C22544A-7EE6-4342-B048-85BDC9FD1C3A}</a:tableStyleId>
              </a:tblPr>
              <a:tblGrid>
                <a:gridCol w="3720042">
                  <a:extLst>
                    <a:ext uri="{9D8B030D-6E8A-4147-A177-3AD203B41FA5}">
                      <a16:colId xmlns:a16="http://schemas.microsoft.com/office/drawing/2014/main" val="3841255212"/>
                    </a:ext>
                  </a:extLst>
                </a:gridCol>
                <a:gridCol w="7243614">
                  <a:extLst>
                    <a:ext uri="{9D8B030D-6E8A-4147-A177-3AD203B41FA5}">
                      <a16:colId xmlns:a16="http://schemas.microsoft.com/office/drawing/2014/main" val="2333089556"/>
                    </a:ext>
                  </a:extLst>
                </a:gridCol>
              </a:tblGrid>
              <a:tr h="733047">
                <a:tc>
                  <a:txBody>
                    <a:bodyPr/>
                    <a:lstStyle/>
                    <a:p>
                      <a:pPr>
                        <a:buNone/>
                      </a:pPr>
                      <a:r>
                        <a:rPr lang="en-US" sz="2100" b="1" cap="all" spc="150">
                          <a:solidFill>
                            <a:schemeClr val="tx1"/>
                          </a:solidFill>
                        </a:rPr>
                        <a:t>Barrier</a:t>
                      </a:r>
                    </a:p>
                  </a:txBody>
                  <a:tcPr marL="181248" marR="181248" marT="181248" marB="18124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100" b="1" cap="all" spc="150">
                          <a:solidFill>
                            <a:schemeClr val="tx1"/>
                          </a:solidFill>
                        </a:rPr>
                        <a:t>Description</a:t>
                      </a:r>
                    </a:p>
                  </a:txBody>
                  <a:tcPr marL="181248" marR="181248" marT="181248" marB="18124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3704632227"/>
                  </a:ext>
                </a:extLst>
              </a:tr>
              <a:tr h="672631">
                <a:tc>
                  <a:txBody>
                    <a:bodyPr/>
                    <a:lstStyle/>
                    <a:p>
                      <a:pPr>
                        <a:buNone/>
                      </a:pPr>
                      <a:r>
                        <a:rPr lang="en-US" sz="1700" b="1" cap="none" spc="0">
                          <a:solidFill>
                            <a:schemeClr val="tx1"/>
                          </a:solidFill>
                        </a:rPr>
                        <a:t>Blame</a:t>
                      </a:r>
                    </a:p>
                  </a:txBody>
                  <a:tcPr marL="181248" marR="181248" marT="181248" marB="181248"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700" cap="none" spc="0">
                          <a:solidFill>
                            <a:schemeClr val="tx1"/>
                          </a:solidFill>
                        </a:rPr>
                        <a:t>Tendency to assign personal fault rather than examine system factors.</a:t>
                      </a:r>
                    </a:p>
                  </a:txBody>
                  <a:tcPr marL="181248" marR="181248" marT="181248" marB="181248"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437201946"/>
                  </a:ext>
                </a:extLst>
              </a:tr>
              <a:tr h="672631">
                <a:tc>
                  <a:txBody>
                    <a:bodyPr/>
                    <a:lstStyle/>
                    <a:p>
                      <a:pPr>
                        <a:buNone/>
                      </a:pPr>
                      <a:r>
                        <a:rPr lang="en-US" sz="1700" b="1" cap="none" spc="0">
                          <a:solidFill>
                            <a:schemeClr val="tx1"/>
                          </a:solidFill>
                        </a:rPr>
                        <a:t>Outcome Bias</a:t>
                      </a:r>
                    </a:p>
                  </a:txBody>
                  <a:tcPr marL="181248" marR="181248" marT="181248" marB="18124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Judging actions based on results instead of context.</a:t>
                      </a:r>
                    </a:p>
                  </a:txBody>
                  <a:tcPr marL="181248" marR="181248" marT="181248" marB="18124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433948545"/>
                  </a:ext>
                </a:extLst>
              </a:tr>
              <a:tr h="672631">
                <a:tc>
                  <a:txBody>
                    <a:bodyPr/>
                    <a:lstStyle/>
                    <a:p>
                      <a:pPr>
                        <a:buNone/>
                      </a:pPr>
                      <a:r>
                        <a:rPr lang="en-US" sz="1700" b="1" cap="none" spc="0">
                          <a:solidFill>
                            <a:schemeClr val="tx1"/>
                          </a:solidFill>
                        </a:rPr>
                        <a:t>Lack of Transparency</a:t>
                      </a:r>
                    </a:p>
                  </a:txBody>
                  <a:tcPr marL="181248" marR="181248" marT="181248" marB="18124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700" cap="none" spc="0">
                          <a:solidFill>
                            <a:schemeClr val="tx1"/>
                          </a:solidFill>
                        </a:rPr>
                        <a:t>Uncertainty about investigation and decision processes.</a:t>
                      </a:r>
                    </a:p>
                  </a:txBody>
                  <a:tcPr marL="181248" marR="181248" marT="181248" marB="18124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37204840"/>
                  </a:ext>
                </a:extLst>
              </a:tr>
              <a:tr h="672631">
                <a:tc>
                  <a:txBody>
                    <a:bodyPr/>
                    <a:lstStyle/>
                    <a:p>
                      <a:pPr>
                        <a:buNone/>
                      </a:pPr>
                      <a:r>
                        <a:rPr lang="en-US" sz="1700" b="1" cap="none" spc="0">
                          <a:solidFill>
                            <a:schemeClr val="tx1"/>
                          </a:solidFill>
                        </a:rPr>
                        <a:t>Inconsistent Processes</a:t>
                      </a:r>
                    </a:p>
                  </a:txBody>
                  <a:tcPr marL="181248" marR="181248" marT="181248" marB="18124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Different standards applied across departments.</a:t>
                      </a:r>
                    </a:p>
                  </a:txBody>
                  <a:tcPr marL="181248" marR="181248" marT="181248" marB="18124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581511495"/>
                  </a:ext>
                </a:extLst>
              </a:tr>
              <a:tr h="672631">
                <a:tc>
                  <a:txBody>
                    <a:bodyPr/>
                    <a:lstStyle/>
                    <a:p>
                      <a:pPr>
                        <a:buNone/>
                      </a:pPr>
                      <a:r>
                        <a:rPr lang="en-US" sz="1700" b="1" cap="none" spc="0">
                          <a:solidFill>
                            <a:schemeClr val="tx1"/>
                          </a:solidFill>
                        </a:rPr>
                        <a:t>Emotional Challenges</a:t>
                      </a:r>
                    </a:p>
                  </a:txBody>
                  <a:tcPr marL="181248" marR="181248" marT="181248" marB="181248"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700" cap="none" spc="0">
                          <a:solidFill>
                            <a:schemeClr val="tx1"/>
                          </a:solidFill>
                        </a:rPr>
                        <a:t>Fear, anxiety, and concerns about judgment.</a:t>
                      </a:r>
                    </a:p>
                  </a:txBody>
                  <a:tcPr marL="181248" marR="181248" marT="181248" marB="181248"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1212229328"/>
                  </a:ext>
                </a:extLst>
              </a:tr>
            </a:tbl>
          </a:graphicData>
        </a:graphic>
      </p:graphicFrame>
    </p:spTree>
    <p:extLst>
      <p:ext uri="{BB962C8B-B14F-4D97-AF65-F5344CB8AC3E}">
        <p14:creationId xmlns:p14="http://schemas.microsoft.com/office/powerpoint/2010/main" val="176893237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ADA9F-38DA-2AB2-FB97-29DC7E1B8832}"/>
              </a:ext>
            </a:extLst>
          </p:cNvPr>
          <p:cNvSpPr>
            <a:spLocks noGrp="1"/>
          </p:cNvSpPr>
          <p:nvPr>
            <p:ph type="title"/>
          </p:nvPr>
        </p:nvSpPr>
        <p:spPr>
          <a:xfrm>
            <a:off x="612647" y="552478"/>
            <a:ext cx="6858000" cy="932688"/>
          </a:xfrm>
        </p:spPr>
        <p:txBody>
          <a:bodyPr anchor="b">
            <a:normAutofit/>
          </a:bodyPr>
          <a:lstStyle/>
          <a:p>
            <a:r>
              <a:rPr lang="en-US" sz="2800"/>
              <a:t>Conclusion and Implications for Organizational Practice</a:t>
            </a:r>
          </a:p>
        </p:txBody>
      </p:sp>
      <p:sp>
        <p:nvSpPr>
          <p:cNvPr id="3" name="Content Placeholder 2">
            <a:extLst>
              <a:ext uri="{FF2B5EF4-FFF2-40B4-BE49-F238E27FC236}">
                <a16:creationId xmlns:a16="http://schemas.microsoft.com/office/drawing/2014/main" id="{7F28169B-BAD0-F10E-5394-788B09505D2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Overcoming Barriers</a:t>
            </a:r>
          </a:p>
          <a:p>
            <a:pPr marL="0" lvl="1" indent="0">
              <a:buFont typeface="Arial" panose="020B0604020202020204" pitchFamily="34" charset="0"/>
              <a:buNone/>
            </a:pPr>
            <a:r>
              <a:rPr lang="en-US" sz="1400"/>
              <a:t>Address cognitive, emotional, procedural, and organizational barriers to successfully implement Just Culture.</a:t>
            </a:r>
          </a:p>
          <a:p>
            <a:pPr marL="0" indent="0">
              <a:spcBef>
                <a:spcPts val="2500"/>
              </a:spcBef>
              <a:buFont typeface="Arial" panose="020B0604020202020204" pitchFamily="34" charset="0"/>
              <a:buNone/>
            </a:pPr>
            <a:r>
              <a:rPr lang="en-US" sz="1400" b="1"/>
              <a:t>Leadership and Fairness</a:t>
            </a:r>
          </a:p>
          <a:p>
            <a:pPr marL="0" lvl="1" indent="0">
              <a:buFont typeface="Arial" panose="020B0604020202020204" pitchFamily="34" charset="0"/>
              <a:buNone/>
            </a:pPr>
            <a:r>
              <a:rPr lang="en-US" sz="1400"/>
              <a:t>Leaders must model fairness, ensure transparency, and promote psychological safety for staff.</a:t>
            </a:r>
          </a:p>
          <a:p>
            <a:pPr marL="0" indent="0">
              <a:spcBef>
                <a:spcPts val="2500"/>
              </a:spcBef>
              <a:buFont typeface="Arial" panose="020B0604020202020204" pitchFamily="34" charset="0"/>
              <a:buNone/>
            </a:pPr>
            <a:r>
              <a:rPr lang="en-US" sz="1400" b="1"/>
              <a:t>Standardized Processes</a:t>
            </a:r>
          </a:p>
          <a:p>
            <a:pPr marL="0" lvl="1" indent="0">
              <a:buFont typeface="Arial" panose="020B0604020202020204" pitchFamily="34" charset="0"/>
              <a:buNone/>
            </a:pPr>
            <a:r>
              <a:rPr lang="en-US" sz="1400"/>
              <a:t>Use standardized investigative processes to reduce bias and perceptions of unfairness in incident assessment.</a:t>
            </a:r>
          </a:p>
          <a:p>
            <a:pPr marL="0" indent="0">
              <a:spcBef>
                <a:spcPts val="2500"/>
              </a:spcBef>
              <a:buFont typeface="Arial" panose="020B0604020202020204" pitchFamily="34" charset="0"/>
              <a:buNone/>
            </a:pPr>
            <a:r>
              <a:rPr lang="en-US" sz="1400" b="1"/>
              <a:t>Emotional Support and Learning</a:t>
            </a:r>
          </a:p>
          <a:p>
            <a:pPr marL="0" lvl="1" indent="0">
              <a:buFont typeface="Arial" panose="020B0604020202020204" pitchFamily="34" charset="0"/>
              <a:buNone/>
            </a:pPr>
            <a:r>
              <a:rPr lang="en-US" sz="1400"/>
              <a:t>Acknowledge staff emotions and provide structured opportunities for reflective learning and growth.</a:t>
            </a:r>
          </a:p>
        </p:txBody>
      </p:sp>
      <p:pic>
        <p:nvPicPr>
          <p:cNvPr id="5" name="Content Placeholder 4" descr="Business team forming words from alphabet blocks.">
            <a:extLst>
              <a:ext uri="{FF2B5EF4-FFF2-40B4-BE49-F238E27FC236}">
                <a16:creationId xmlns:a16="http://schemas.microsoft.com/office/drawing/2014/main" id="{D2A255CB-7A6B-408E-AD4B-EB7D532F39F3}"/>
              </a:ext>
            </a:extLst>
          </p:cNvPr>
          <p:cNvPicPr>
            <a:picLocks noGrp="1" noChangeAspect="1"/>
          </p:cNvPicPr>
          <p:nvPr>
            <p:ph type="pic" sz="quarter" idx="13"/>
          </p:nvPr>
        </p:nvPicPr>
        <p:blipFill>
          <a:blip r:embed="rId3"/>
          <a:srcRect l="31453" r="22510"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065274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F3D192A-84D9-4592-8CD0-04B2096CE0AE}">
  <ds:schemaRefs>
    <ds:schemaRef ds:uri="http://schemas.microsoft.com/sharepoint/v3/contenttype/forms"/>
  </ds:schemaRefs>
</ds:datastoreItem>
</file>

<file path=customXml/itemProps2.xml><?xml version="1.0" encoding="utf-8"?>
<ds:datastoreItem xmlns:ds="http://schemas.openxmlformats.org/officeDocument/2006/customXml" ds:itemID="{ACDF21CE-F94D-4E7A-9B41-689023E47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C1B1D1-0368-4ED3-8004-0F946C56E5DB}">
  <ds:schemaRefs>
    <ds:schemaRef ds:uri="http://schemas.microsoft.com/sharepoint/v3"/>
    <ds:schemaRef ds:uri="http://schemas.microsoft.com/office/2006/documentManagement/types"/>
    <ds:schemaRef ds:uri="http://purl.org/dc/terms/"/>
    <ds:schemaRef ds:uri="71af3243-3dd4-4a8d-8c0d-dd76da1f02a5"/>
    <ds:schemaRef ds:uri="http://purl.org/dc/elements/1.1/"/>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71</TotalTime>
  <Words>4</Words>
  <Application>Microsoft Office PowerPoint</Application>
  <PresentationFormat>Widescreen</PresentationFormat>
  <Paragraphs>2</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Chalcot</vt:lpstr>
      <vt:lpstr>Barriers and Challenges to Implementing a Just Culture</vt:lpstr>
      <vt:lpstr>Challenges to Implementing a Just Culture</vt:lpstr>
      <vt:lpstr>Understanding the Concept of a Just Culture</vt:lpstr>
      <vt:lpstr>Blame Orientation as a Cultural Barrier</vt:lpstr>
      <vt:lpstr>Outcome Bias and Its Impact on Fair Decision‑Making</vt:lpstr>
      <vt:lpstr>Lack of Transparency in Incident Assessment</vt:lpstr>
      <vt:lpstr>Inconsistent Assessment Processes Across an Organization</vt:lpstr>
      <vt:lpstr>Emotional and Communication Challenges in Just Culture Adoption</vt:lpstr>
      <vt:lpstr>Additional Organizational Challenges Affecting Just Culture</vt:lpstr>
      <vt:lpstr>Graphic Overview of Key Barriers</vt:lpstr>
      <vt:lpstr>Conclusion and Implications for Organizational 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38</cp:revision>
  <dcterms:created xsi:type="dcterms:W3CDTF">2024-06-26T20:20:27Z</dcterms:created>
  <dcterms:modified xsi:type="dcterms:W3CDTF">2026-02-11T02:20:35Z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