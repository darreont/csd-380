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61538A-6FB8-42F0-86CF-7B20F2587C7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A444E00-634B-4A79-B140-C19E416D6F76}">
      <dgm:prSet/>
      <dgm:spPr/>
      <dgm:t>
        <a:bodyPr/>
        <a:lstStyle/>
        <a:p>
          <a:r>
            <a:rPr lang="en-US"/>
            <a:t>• All steps from idea → code → production → customer value</a:t>
          </a:r>
        </a:p>
      </dgm:t>
    </dgm:pt>
    <dgm:pt modelId="{9A97E8C7-803E-4ECC-AC34-121A77D18A4E}" type="parTrans" cxnId="{C23CB064-ABA7-497C-A077-681EFFB8F531}">
      <dgm:prSet/>
      <dgm:spPr/>
      <dgm:t>
        <a:bodyPr/>
        <a:lstStyle/>
        <a:p>
          <a:endParaRPr lang="en-US"/>
        </a:p>
      </dgm:t>
    </dgm:pt>
    <dgm:pt modelId="{978CD4C3-992E-4A21-9A0F-3F7BCC0624EF}" type="sibTrans" cxnId="{C23CB064-ABA7-497C-A077-681EFFB8F531}">
      <dgm:prSet/>
      <dgm:spPr/>
      <dgm:t>
        <a:bodyPr/>
        <a:lstStyle/>
        <a:p>
          <a:endParaRPr lang="en-US"/>
        </a:p>
      </dgm:t>
    </dgm:pt>
    <dgm:pt modelId="{C243DCE7-B767-46D0-B4E5-CB9A3145BFBA}">
      <dgm:prSet/>
      <dgm:spPr/>
      <dgm:t>
        <a:bodyPr/>
        <a:lstStyle/>
        <a:p>
          <a:r>
            <a:rPr lang="en-US"/>
            <a:t>• Focus: reduce delays and improve workflow</a:t>
          </a:r>
        </a:p>
      </dgm:t>
    </dgm:pt>
    <dgm:pt modelId="{35D5DC1D-D90A-4127-9010-17B1F893C542}" type="parTrans" cxnId="{D70F3752-022B-491B-A98A-02389B3C56BA}">
      <dgm:prSet/>
      <dgm:spPr/>
      <dgm:t>
        <a:bodyPr/>
        <a:lstStyle/>
        <a:p>
          <a:endParaRPr lang="en-US"/>
        </a:p>
      </dgm:t>
    </dgm:pt>
    <dgm:pt modelId="{0D5CF106-93E4-4A02-8014-41D542CF051D}" type="sibTrans" cxnId="{D70F3752-022B-491B-A98A-02389B3C56BA}">
      <dgm:prSet/>
      <dgm:spPr/>
      <dgm:t>
        <a:bodyPr/>
        <a:lstStyle/>
        <a:p>
          <a:endParaRPr lang="en-US"/>
        </a:p>
      </dgm:t>
    </dgm:pt>
    <dgm:pt modelId="{A06DA61F-C699-4766-8372-4AAC4239CD60}">
      <dgm:prSet/>
      <dgm:spPr/>
      <dgm:t>
        <a:bodyPr/>
        <a:lstStyle/>
        <a:p>
          <a:r>
            <a:rPr lang="en-US"/>
            <a:t>• Used in DevOps to find waste and bottlenecks</a:t>
          </a:r>
        </a:p>
      </dgm:t>
    </dgm:pt>
    <dgm:pt modelId="{D5CACBBE-0310-47D3-899D-8324B81101F4}" type="parTrans" cxnId="{15D22579-87C4-47EB-9B08-35C2183FCDF4}">
      <dgm:prSet/>
      <dgm:spPr/>
      <dgm:t>
        <a:bodyPr/>
        <a:lstStyle/>
        <a:p>
          <a:endParaRPr lang="en-US"/>
        </a:p>
      </dgm:t>
    </dgm:pt>
    <dgm:pt modelId="{EAF56BA2-87C6-4913-9AA5-AD4160F95CF1}" type="sibTrans" cxnId="{15D22579-87C4-47EB-9B08-35C2183FCDF4}">
      <dgm:prSet/>
      <dgm:spPr/>
      <dgm:t>
        <a:bodyPr/>
        <a:lstStyle/>
        <a:p>
          <a:endParaRPr lang="en-US"/>
        </a:p>
      </dgm:t>
    </dgm:pt>
    <dgm:pt modelId="{8066C43C-1E83-446D-A948-8B8DCC2A83A7}" type="pres">
      <dgm:prSet presAssocID="{1161538A-6FB8-42F0-86CF-7B20F2587C7B}" presName="linear" presStyleCnt="0">
        <dgm:presLayoutVars>
          <dgm:animLvl val="lvl"/>
          <dgm:resizeHandles val="exact"/>
        </dgm:presLayoutVars>
      </dgm:prSet>
      <dgm:spPr/>
    </dgm:pt>
    <dgm:pt modelId="{ACC7DF33-42A8-4D62-A0B0-531E671DE59F}" type="pres">
      <dgm:prSet presAssocID="{7A444E00-634B-4A79-B140-C19E416D6F7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7A4306E-43AE-4AD6-AD31-4EDA24E7AA3D}" type="pres">
      <dgm:prSet presAssocID="{978CD4C3-992E-4A21-9A0F-3F7BCC0624EF}" presName="spacer" presStyleCnt="0"/>
      <dgm:spPr/>
    </dgm:pt>
    <dgm:pt modelId="{41AF0A50-6535-47FC-A1E5-B84389602269}" type="pres">
      <dgm:prSet presAssocID="{C243DCE7-B767-46D0-B4E5-CB9A3145BFB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0957602-F450-4FAE-B488-3AF4EC0D5CB5}" type="pres">
      <dgm:prSet presAssocID="{0D5CF106-93E4-4A02-8014-41D542CF051D}" presName="spacer" presStyleCnt="0"/>
      <dgm:spPr/>
    </dgm:pt>
    <dgm:pt modelId="{E86459A6-3235-44E2-91F2-3BA5BB6B6940}" type="pres">
      <dgm:prSet presAssocID="{A06DA61F-C699-4766-8372-4AAC4239CD6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3832C0E-D987-470C-9EEC-3888A2540EF9}" type="presOf" srcId="{C243DCE7-B767-46D0-B4E5-CB9A3145BFBA}" destId="{41AF0A50-6535-47FC-A1E5-B84389602269}" srcOrd="0" destOrd="0" presId="urn:microsoft.com/office/officeart/2005/8/layout/vList2"/>
    <dgm:cxn modelId="{D04CA21B-62D2-4752-8598-46A71C17FC37}" type="presOf" srcId="{A06DA61F-C699-4766-8372-4AAC4239CD60}" destId="{E86459A6-3235-44E2-91F2-3BA5BB6B6940}" srcOrd="0" destOrd="0" presId="urn:microsoft.com/office/officeart/2005/8/layout/vList2"/>
    <dgm:cxn modelId="{C23CB064-ABA7-497C-A077-681EFFB8F531}" srcId="{1161538A-6FB8-42F0-86CF-7B20F2587C7B}" destId="{7A444E00-634B-4A79-B140-C19E416D6F76}" srcOrd="0" destOrd="0" parTransId="{9A97E8C7-803E-4ECC-AC34-121A77D18A4E}" sibTransId="{978CD4C3-992E-4A21-9A0F-3F7BCC0624EF}"/>
    <dgm:cxn modelId="{D70F3752-022B-491B-A98A-02389B3C56BA}" srcId="{1161538A-6FB8-42F0-86CF-7B20F2587C7B}" destId="{C243DCE7-B767-46D0-B4E5-CB9A3145BFBA}" srcOrd="1" destOrd="0" parTransId="{35D5DC1D-D90A-4127-9010-17B1F893C542}" sibTransId="{0D5CF106-93E4-4A02-8014-41D542CF051D}"/>
    <dgm:cxn modelId="{15D22579-87C4-47EB-9B08-35C2183FCDF4}" srcId="{1161538A-6FB8-42F0-86CF-7B20F2587C7B}" destId="{A06DA61F-C699-4766-8372-4AAC4239CD60}" srcOrd="2" destOrd="0" parTransId="{D5CACBBE-0310-47D3-899D-8324B81101F4}" sibTransId="{EAF56BA2-87C6-4913-9AA5-AD4160F95CF1}"/>
    <dgm:cxn modelId="{60021787-78C3-4B4B-B9AC-FABC40A93645}" type="presOf" srcId="{1161538A-6FB8-42F0-86CF-7B20F2587C7B}" destId="{8066C43C-1E83-446D-A948-8B8DCC2A83A7}" srcOrd="0" destOrd="0" presId="urn:microsoft.com/office/officeart/2005/8/layout/vList2"/>
    <dgm:cxn modelId="{F11ED1F2-785C-4C1C-B9A5-B6493036F4BE}" type="presOf" srcId="{7A444E00-634B-4A79-B140-C19E416D6F76}" destId="{ACC7DF33-42A8-4D62-A0B0-531E671DE59F}" srcOrd="0" destOrd="0" presId="urn:microsoft.com/office/officeart/2005/8/layout/vList2"/>
    <dgm:cxn modelId="{0CB5035A-FC1F-47D9-B102-C8B74460DBF7}" type="presParOf" srcId="{8066C43C-1E83-446D-A948-8B8DCC2A83A7}" destId="{ACC7DF33-42A8-4D62-A0B0-531E671DE59F}" srcOrd="0" destOrd="0" presId="urn:microsoft.com/office/officeart/2005/8/layout/vList2"/>
    <dgm:cxn modelId="{C3C683BC-F137-4901-9AA3-DD682F0C4708}" type="presParOf" srcId="{8066C43C-1E83-446D-A948-8B8DCC2A83A7}" destId="{A7A4306E-43AE-4AD6-AD31-4EDA24E7AA3D}" srcOrd="1" destOrd="0" presId="urn:microsoft.com/office/officeart/2005/8/layout/vList2"/>
    <dgm:cxn modelId="{2672041F-9C13-4C1E-861E-7BA3A1EA2178}" type="presParOf" srcId="{8066C43C-1E83-446D-A948-8B8DCC2A83A7}" destId="{41AF0A50-6535-47FC-A1E5-B84389602269}" srcOrd="2" destOrd="0" presId="urn:microsoft.com/office/officeart/2005/8/layout/vList2"/>
    <dgm:cxn modelId="{EFDC50D0-4129-4EC6-86A8-DB0C2A6C8553}" type="presParOf" srcId="{8066C43C-1E83-446D-A948-8B8DCC2A83A7}" destId="{10957602-F450-4FAE-B488-3AF4EC0D5CB5}" srcOrd="3" destOrd="0" presId="urn:microsoft.com/office/officeart/2005/8/layout/vList2"/>
    <dgm:cxn modelId="{5018CBDE-D3D7-42F3-9461-4E96285D9A1F}" type="presParOf" srcId="{8066C43C-1E83-446D-A948-8B8DCC2A83A7}" destId="{E86459A6-3235-44E2-91F2-3BA5BB6B694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7DF33-42A8-4D62-A0B0-531E671DE59F}">
      <dsp:nvSpPr>
        <dsp:cNvPr id="0" name=""/>
        <dsp:cNvSpPr/>
      </dsp:nvSpPr>
      <dsp:spPr>
        <a:xfrm>
          <a:off x="0" y="8064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All steps from idea → code → production → customer value</a:t>
          </a:r>
        </a:p>
      </dsp:txBody>
      <dsp:txXfrm>
        <a:off x="83216" y="163860"/>
        <a:ext cx="4833692" cy="1538258"/>
      </dsp:txXfrm>
    </dsp:sp>
    <dsp:sp modelId="{41AF0A50-6535-47FC-A1E5-B84389602269}">
      <dsp:nvSpPr>
        <dsp:cNvPr id="0" name=""/>
        <dsp:cNvSpPr/>
      </dsp:nvSpPr>
      <dsp:spPr>
        <a:xfrm>
          <a:off x="0" y="187461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Focus: reduce delays and improve workflow</a:t>
          </a:r>
        </a:p>
      </dsp:txBody>
      <dsp:txXfrm>
        <a:off x="83216" y="1957830"/>
        <a:ext cx="4833692" cy="1538258"/>
      </dsp:txXfrm>
    </dsp:sp>
    <dsp:sp modelId="{E86459A6-3235-44E2-91F2-3BA5BB6B6940}">
      <dsp:nvSpPr>
        <dsp:cNvPr id="0" name=""/>
        <dsp:cNvSpPr/>
      </dsp:nvSpPr>
      <dsp:spPr>
        <a:xfrm>
          <a:off x="0" y="3668585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Used in DevOps to find waste and bottlenecks</a:t>
          </a:r>
        </a:p>
      </dsp:txBody>
      <dsp:txXfrm>
        <a:off x="83216" y="3751801"/>
        <a:ext cx="4833692" cy="15382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Technology Value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Defining Lead Time, Deployment Delays,</a:t>
            </a:r>
          </a:p>
          <a:p>
            <a:r>
              <a:t>And the DevOps Ideal</a:t>
            </a:r>
          </a:p>
          <a:p>
            <a:endParaRPr/>
          </a:p>
          <a:p>
            <a:r>
              <a:t>By: Darreon Tolen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What is the Technology Value Stream?</a:t>
            </a: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2A481C5C-C133-B3DD-FF18-92C0D47328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32447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Time vs. Processing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Lead Time: Total time from request to completion</a:t>
            </a:r>
          </a:p>
          <a:p>
            <a:pPr marL="0" indent="0">
              <a:buNone/>
            </a:pPr>
            <a:r>
              <a:rPr dirty="0"/>
              <a:t>• Processing Time: Time actually spent working</a:t>
            </a:r>
          </a:p>
          <a:p>
            <a:pPr marL="0" indent="0">
              <a:buNone/>
            </a:pPr>
            <a:r>
              <a:rPr dirty="0"/>
              <a:t>• Lead Time includes waiting, handoffs, queues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Scenario: Deployment Lead Times of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Many organizations require months to deploy</a:t>
            </a:r>
          </a:p>
          <a:p>
            <a:pPr marL="0" indent="0">
              <a:buNone/>
            </a:pPr>
            <a:r>
              <a:rPr dirty="0"/>
              <a:t>• Causes: manual steps, large batches, approvals, slow testing,</a:t>
            </a:r>
            <a:r>
              <a:rPr lang="en-US" dirty="0"/>
              <a:t> </a:t>
            </a:r>
            <a:r>
              <a:rPr dirty="0"/>
              <a:t>environment issues, long handoffs</a:t>
            </a:r>
          </a:p>
          <a:p>
            <a:pPr marL="0" indent="0">
              <a:buNone/>
            </a:pPr>
            <a:r>
              <a:rPr dirty="0"/>
              <a:t>• Leads to slow feedback and higher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Ideal: Deployment Lead Times of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Automated pipelines and testing</a:t>
            </a:r>
          </a:p>
          <a:p>
            <a:pPr marL="0" indent="0">
              <a:buNone/>
            </a:pPr>
            <a:r>
              <a:rPr dirty="0"/>
              <a:t>• Small batch sizes</a:t>
            </a:r>
          </a:p>
          <a:p>
            <a:pPr marL="0" indent="0">
              <a:buNone/>
            </a:pPr>
            <a:r>
              <a:rPr dirty="0"/>
              <a:t>• Fast feedback improves quality and reduces risk</a:t>
            </a:r>
          </a:p>
          <a:p>
            <a:pPr marL="0" indent="0">
              <a:buNone/>
            </a:pPr>
            <a:r>
              <a:rPr dirty="0"/>
              <a:t>• Goal: deployments in minutes, not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Value Stream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Flow:</a:t>
            </a:r>
          </a:p>
          <a:p>
            <a:r>
              <a:t>Request → Backlog → Dev → Build/Test → Staging → Approval → Production</a:t>
            </a:r>
          </a:p>
          <a:p>
            <a:endParaRPr/>
          </a:p>
          <a:p>
            <a:r>
              <a:t>(Insert diagram visually in class presentation)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Reduce Lead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Map the value stream</a:t>
            </a:r>
          </a:p>
          <a:p>
            <a:pPr marL="0" indent="0">
              <a:buNone/>
            </a:pPr>
            <a:r>
              <a:rPr dirty="0"/>
              <a:t>• Remove waste and reduce queues</a:t>
            </a:r>
          </a:p>
          <a:p>
            <a:pPr marL="0" indent="0">
              <a:buNone/>
            </a:pPr>
            <a:r>
              <a:rPr dirty="0"/>
              <a:t>• Automate CI/CD</a:t>
            </a:r>
          </a:p>
          <a:p>
            <a:pPr marL="0" indent="0">
              <a:buNone/>
            </a:pPr>
            <a:r>
              <a:rPr dirty="0"/>
              <a:t>• Improve handoff quality</a:t>
            </a:r>
          </a:p>
          <a:p>
            <a:pPr marL="0" indent="0">
              <a:buNone/>
            </a:pPr>
            <a:r>
              <a:rPr dirty="0"/>
              <a:t>• Use production-like environments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Kim, G., Humble, J., Debois, P., Willis, J., &amp; Forsgren, N. (2021).</a:t>
            </a:r>
          </a:p>
          <a:p>
            <a:r>
              <a:t>The DevOps Handbook (2nd ed.). IT Revolution.</a:t>
            </a:r>
          </a:p>
          <a:p>
            <a:endParaRPr/>
          </a:p>
          <a:p>
            <a:r>
              <a:t>Humble, J., &amp; Farley, D. (2010).</a:t>
            </a:r>
          </a:p>
          <a:p>
            <a:r>
              <a:t>Continuous Delivery. Addison-Wesley.</a:t>
            </a:r>
          </a:p>
          <a:p>
            <a:endParaRPr/>
          </a:p>
          <a:p>
            <a:r>
              <a:t>IT Revolution. (https://itrevolution.com)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285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The Technology Value Stream</vt:lpstr>
      <vt:lpstr>What is the Technology Value Stream?</vt:lpstr>
      <vt:lpstr>Lead Time vs. Processing Time</vt:lpstr>
      <vt:lpstr>Common Scenario: Deployment Lead Times of Months</vt:lpstr>
      <vt:lpstr>DevOps Ideal: Deployment Lead Times of Minutes</vt:lpstr>
      <vt:lpstr>Technology Value Stream Diagram</vt:lpstr>
      <vt:lpstr>Steps to Reduce Lead Time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Brionna Talley</cp:lastModifiedBy>
  <cp:revision>7</cp:revision>
  <dcterms:created xsi:type="dcterms:W3CDTF">2013-01-27T09:14:16Z</dcterms:created>
  <dcterms:modified xsi:type="dcterms:W3CDTF">2025-12-07T18:03:19Z</dcterms:modified>
  <cp:category/>
</cp:coreProperties>
</file>